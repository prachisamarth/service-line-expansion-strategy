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iTCGZzOIlsAx3+wrs8wT1JqKzu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D1C25E-8168-4D68-8666-2CF947D029B0}">
  <a:tblStyle styleId="{6ED1C25E-8168-4D68-8666-2CF947D029B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f0fbaaf55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bf0fbaaf55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f0fbaaf55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f0fbaaf55_0_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bf0fbaaf55_0_2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f0fbaaf55_0_2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f0fbaaf55_0_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f0fbaaf55_0_3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f0fbaaf55_0_3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f0fbaaf5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f0fbaaf5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Service Line Expansion Strategy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11700" y="3525875"/>
            <a:ext cx="8520600" cy="14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700"/>
              <a:t>Strategy and Insights Note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700"/>
              <a:t>By: Prachi Samarth</a:t>
            </a:r>
            <a:endParaRPr sz="1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Context and Objective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694800" y="1195725"/>
            <a:ext cx="3768000" cy="3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Situation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Mid-sized hospital chain (3-5 hospitals)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Presence in Tier 1 and Tier 2 cities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18 months expansion horizon</a:t>
            </a:r>
            <a:endParaRPr sz="1500"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618725" y="1221825"/>
            <a:ext cx="3924600" cy="3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Leadership Questions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Which service line to prioritize?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Which geographies make strategic sense?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How to expand without straining clinical or financial performance? 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f0fbaaf55_0_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Arial"/>
              <a:buNone/>
            </a:pPr>
            <a:r>
              <a:rPr i="0" lang="en" sz="2500" u="none" cap="none" strike="noStrike">
                <a:solidFill>
                  <a:srgbClr val="1E293B"/>
                </a:solidFill>
              </a:rPr>
              <a:t>Approach to Guide the Decision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bf0fbaaf55_0_0"/>
          <p:cNvSpPr/>
          <p:nvPr/>
        </p:nvSpPr>
        <p:spPr>
          <a:xfrm>
            <a:off x="457200" y="1371600"/>
            <a:ext cx="3931800" cy="2377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f0fbaaf55_0_0"/>
          <p:cNvSpPr/>
          <p:nvPr/>
        </p:nvSpPr>
        <p:spPr>
          <a:xfrm>
            <a:off x="457200" y="1371600"/>
            <a:ext cx="3931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bf0fbaaf55_0_0"/>
          <p:cNvSpPr/>
          <p:nvPr/>
        </p:nvSpPr>
        <p:spPr>
          <a:xfrm>
            <a:off x="457200" y="137160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Secondary Research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bf0fbaaf55_0_0"/>
          <p:cNvSpPr/>
          <p:nvPr/>
        </p:nvSpPr>
        <p:spPr>
          <a:xfrm>
            <a:off x="640080" y="2286000"/>
            <a:ext cx="3566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Disease burden trends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Market growth by specialty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Competitive landscape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Tier 1 vs Tier 2 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Insurance &amp; affordability trends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bf0fbaaf55_0_0"/>
          <p:cNvSpPr/>
          <p:nvPr/>
        </p:nvSpPr>
        <p:spPr>
          <a:xfrm>
            <a:off x="4754880" y="1371600"/>
            <a:ext cx="3931800" cy="2377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bf0fbaaf55_0_0"/>
          <p:cNvSpPr/>
          <p:nvPr/>
        </p:nvSpPr>
        <p:spPr>
          <a:xfrm>
            <a:off x="4754880" y="1371600"/>
            <a:ext cx="39318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bf0fbaaf55_0_0"/>
          <p:cNvSpPr/>
          <p:nvPr/>
        </p:nvSpPr>
        <p:spPr>
          <a:xfrm>
            <a:off x="4754880" y="1371600"/>
            <a:ext cx="3931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Primary Research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bf0fbaaf55_0_0"/>
          <p:cNvSpPr/>
          <p:nvPr/>
        </p:nvSpPr>
        <p:spPr>
          <a:xfrm>
            <a:off x="4937760" y="2286000"/>
            <a:ext cx="3566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Revenue concentration internally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1100">
                <a:solidFill>
                  <a:srgbClr val="1E293B"/>
                </a:solidFill>
              </a:rPr>
              <a:t>Patients Referred externally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Operational </a:t>
            </a:r>
            <a:r>
              <a:rPr lang="en" sz="1100">
                <a:solidFill>
                  <a:srgbClr val="1E293B"/>
                </a:solidFill>
              </a:rPr>
              <a:t>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Investment </a:t>
            </a:r>
            <a:r>
              <a:rPr lang="en" sz="1100">
                <a:solidFill>
                  <a:srgbClr val="1E293B"/>
                </a:solidFill>
              </a:rPr>
              <a:t>Consideration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Patient decision </a:t>
            </a:r>
            <a:r>
              <a:rPr lang="en" sz="1100">
                <a:solidFill>
                  <a:srgbClr val="1E293B"/>
                </a:solidFill>
              </a:rPr>
              <a:t>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bf0fbaaf55_0_0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f0fbaaf55_0_2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Arial"/>
              <a:buNone/>
            </a:pPr>
            <a:r>
              <a:rPr i="0" lang="en" sz="2500" u="none" cap="none" strike="noStrike">
                <a:solidFill>
                  <a:srgbClr val="1E293B"/>
                </a:solidFill>
              </a:rPr>
              <a:t>Primary Research Required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g3bf0fbaaf55_0_20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{6ED1C25E-8168-4D68-8666-2CF947D029B0}</a:tableStyleId>
              </a:tblPr>
              <a:tblGrid>
                <a:gridCol w="1645925"/>
                <a:gridCol w="6583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sz="100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</a:rPr>
                        <a:t>Sample Questions</a:t>
                      </a:r>
                      <a:endParaRPr sz="100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A8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</a:rPr>
                        <a:t>Owners/Board</a:t>
                      </a:r>
                      <a:endParaRPr sz="90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Which service line contributes highest revenue?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Which has strongest growth in past 2-3 years?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Where would you invest in next 18 months?</a:t>
                      </a:r>
                      <a:endParaRPr sz="85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</a:rPr>
                        <a:t>Clinical HoDs</a:t>
                      </a:r>
                      <a:endParaRPr sz="90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Which procedures can't we perform today?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For which specialties do we refer patients out frequently?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What cases are increasing in number?</a:t>
                      </a:r>
                      <a:endParaRPr sz="85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sz="90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Which departments generate strongest margins?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Where are resource constraints?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What are infrastructure challenges?</a:t>
                      </a:r>
                      <a:endParaRPr sz="85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</a:rPr>
                        <a:t>Referring Physicians</a:t>
                      </a:r>
                      <a:endParaRPr sz="90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For which specialties do you refer patients outside?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Why are patients sent elsewhere?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Which services are most in demand locally?</a:t>
                      </a:r>
                      <a:endParaRPr sz="85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</a:rPr>
                        <a:t>Patients/Caregivers</a:t>
                      </a:r>
                      <a:endParaRPr sz="90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How did you decide where to get treated?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Would you prefer treatment closer to home?</a:t>
                      </a:r>
                      <a:endParaRPr sz="85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000000"/>
                          </a:solidFill>
                        </a:rPr>
                        <a:t>• Did insurance influence your decision?</a:t>
                      </a:r>
                      <a:endParaRPr sz="850" u="none" cap="none" strike="noStrike"/>
                    </a:p>
                  </a:txBody>
                  <a:tcPr marT="73150" marB="73150" marR="73150" marL="73150">
                    <a:lnL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g3bf0fbaaf55_0_20"/>
          <p:cNvSpPr/>
          <p:nvPr/>
        </p:nvSpPr>
        <p:spPr>
          <a:xfrm>
            <a:off x="457200" y="914400"/>
            <a:ext cx="82296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" sz="1300">
                <a:solidFill>
                  <a:srgbClr val="64748B"/>
                </a:solidFill>
              </a:rPr>
              <a:t>Stakeholder validation is required to understand the real situation before </a:t>
            </a:r>
            <a:r>
              <a:rPr lang="en" sz="1300">
                <a:solidFill>
                  <a:srgbClr val="64748B"/>
                </a:solidFill>
              </a:rPr>
              <a:t>expansion:</a:t>
            </a:r>
            <a:endParaRPr sz="13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Secondary Research Evaluation Framework</a:t>
            </a:r>
            <a:endParaRPr/>
          </a:p>
        </p:txBody>
      </p:sp>
      <p:sp>
        <p:nvSpPr>
          <p:cNvPr id="92" name="Google Shape;92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answer the decision, we evaluated 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57200" y="1828800"/>
            <a:ext cx="26976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31303" y="2011675"/>
            <a:ext cx="2240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</a:rPr>
              <a:t>Disease burden &amp;</a:t>
            </a:r>
            <a:endParaRPr i="0" sz="15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</a:rPr>
              <a:t>long-term demand</a:t>
            </a:r>
            <a:endParaRPr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337560" y="1828800"/>
            <a:ext cx="26976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611700" y="2011675"/>
            <a:ext cx="2240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</a:rPr>
              <a:t>Revenue and</a:t>
            </a:r>
            <a:endParaRPr i="0" sz="15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</a:rPr>
              <a:t>profitability potential</a:t>
            </a:r>
            <a:endParaRPr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217920" y="1828800"/>
            <a:ext cx="26976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526197" y="2011675"/>
            <a:ext cx="2206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</a:rPr>
              <a:t>Competitive</a:t>
            </a:r>
            <a:r>
              <a:rPr i="0" lang="en" sz="1500" u="none" cap="none" strike="noStrike">
                <a:solidFill>
                  <a:srgbClr val="000000"/>
                </a:solidFill>
              </a:rPr>
              <a:t> </a:t>
            </a:r>
            <a:r>
              <a:rPr b="1" i="0" lang="en" sz="1500" u="none" cap="none" strike="noStrike">
                <a:solidFill>
                  <a:srgbClr val="1E293B"/>
                </a:solidFill>
              </a:rPr>
              <a:t>intensity</a:t>
            </a:r>
            <a:endParaRPr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874520" y="3200400"/>
            <a:ext cx="26976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182847" y="3383275"/>
            <a:ext cx="2206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</a:rPr>
              <a:t>Infrastructure</a:t>
            </a:r>
            <a:r>
              <a:rPr i="0" lang="en" sz="1500" u="none" cap="none" strike="noStrike">
                <a:solidFill>
                  <a:srgbClr val="000000"/>
                </a:solidFill>
              </a:rPr>
              <a:t> </a:t>
            </a:r>
            <a:r>
              <a:rPr b="1" i="0" lang="en" sz="1500" u="none" cap="none" strike="noStrike">
                <a:solidFill>
                  <a:srgbClr val="1E293B"/>
                </a:solidFill>
              </a:rPr>
              <a:t>gap</a:t>
            </a:r>
            <a:endParaRPr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754880" y="3200400"/>
            <a:ext cx="26976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986552" y="3383275"/>
            <a:ext cx="2283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</a:rPr>
              <a:t>Set up cost and ease of expansion</a:t>
            </a:r>
            <a:endParaRPr i="0" sz="15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f0fbaaf55_0_3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Arial"/>
              <a:buNone/>
            </a:pPr>
            <a:r>
              <a:rPr i="0" lang="en" sz="2500" u="none" cap="none" strike="noStrike">
                <a:solidFill>
                  <a:srgbClr val="1E293B"/>
                </a:solidFill>
              </a:rPr>
              <a:t>Secondary Research: Market Signals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f0fbaaf55_0_30"/>
          <p:cNvSpPr/>
          <p:nvPr/>
        </p:nvSpPr>
        <p:spPr>
          <a:xfrm>
            <a:off x="457200" y="1097280"/>
            <a:ext cx="2560200" cy="25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f0fbaaf55_0_30"/>
          <p:cNvSpPr/>
          <p:nvPr/>
        </p:nvSpPr>
        <p:spPr>
          <a:xfrm>
            <a:off x="640080" y="1280160"/>
            <a:ext cx="21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Disease &amp;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Demand Trends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bf0fbaaf55_0_30"/>
          <p:cNvSpPr/>
          <p:nvPr/>
        </p:nvSpPr>
        <p:spPr>
          <a:xfrm>
            <a:off x="640080" y="1920240"/>
            <a:ext cx="2194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CVD accounts for ~27% of deaths in India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Rising lifestyle risk factors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Increasing interventional procedures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bf0fbaaf55_0_30"/>
          <p:cNvSpPr/>
          <p:nvPr/>
        </p:nvSpPr>
        <p:spPr>
          <a:xfrm>
            <a:off x="3291840" y="1097280"/>
            <a:ext cx="2560200" cy="25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f0fbaaf55_0_30"/>
          <p:cNvSpPr/>
          <p:nvPr/>
        </p:nvSpPr>
        <p:spPr>
          <a:xfrm>
            <a:off x="3474720" y="1280160"/>
            <a:ext cx="21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A896"/>
                </a:solidFill>
                <a:latin typeface="Arial"/>
                <a:ea typeface="Arial"/>
                <a:cs typeface="Arial"/>
                <a:sym typeface="Arial"/>
              </a:rPr>
              <a:t>Specialty</a:t>
            </a:r>
            <a:endParaRPr b="0" i="0" sz="1400" u="none" cap="none" strike="noStrike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A896"/>
                </a:solidFill>
                <a:latin typeface="Arial"/>
                <a:ea typeface="Arial"/>
                <a:cs typeface="Arial"/>
                <a:sym typeface="Arial"/>
              </a:rPr>
              <a:t>Economics</a:t>
            </a:r>
            <a:endParaRPr b="0" i="0" sz="1400" u="none" cap="none" strike="noStrike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bf0fbaaf55_0_30"/>
          <p:cNvSpPr/>
          <p:nvPr/>
        </p:nvSpPr>
        <p:spPr>
          <a:xfrm>
            <a:off x="3474720" y="1920240"/>
            <a:ext cx="2194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Procedure</a:t>
            </a:r>
            <a:r>
              <a:rPr lang="en" sz="1000">
                <a:solidFill>
                  <a:srgbClr val="1E293B"/>
                </a:solidFill>
              </a:rPr>
              <a:t> </a:t>
            </a: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driven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High revenue per-patient </a:t>
            </a:r>
            <a:endParaRPr sz="1000">
              <a:solidFill>
                <a:srgbClr val="1E293B"/>
              </a:solidFill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" sz="1000">
                <a:solidFill>
                  <a:srgbClr val="1E293B"/>
                </a:solidFill>
              </a:rPr>
              <a:t>Continuous</a:t>
            </a:r>
            <a:r>
              <a:rPr lang="en" sz="1000">
                <a:solidFill>
                  <a:srgbClr val="1E293B"/>
                </a:solidFill>
              </a:rPr>
              <a:t> </a:t>
            </a: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diagnostics t</a:t>
            </a:r>
            <a:r>
              <a:rPr lang="en" sz="1000">
                <a:solidFill>
                  <a:srgbClr val="1E293B"/>
                </a:solidFill>
              </a:rPr>
              <a:t>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bf0fbaaf55_0_30"/>
          <p:cNvSpPr/>
          <p:nvPr/>
        </p:nvSpPr>
        <p:spPr>
          <a:xfrm>
            <a:off x="6126480" y="1097280"/>
            <a:ext cx="2560200" cy="25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f0fbaaf55_0_30"/>
          <p:cNvSpPr/>
          <p:nvPr/>
        </p:nvSpPr>
        <p:spPr>
          <a:xfrm>
            <a:off x="6309360" y="1280160"/>
            <a:ext cx="21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Geographic</a:t>
            </a:r>
            <a:endParaRPr b="0" i="0" sz="1400" u="none" cap="none" strike="noStrike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 b="0" i="0" sz="1400" u="none" cap="none" strike="noStrike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bf0fbaaf55_0_30"/>
          <p:cNvSpPr/>
          <p:nvPr/>
        </p:nvSpPr>
        <p:spPr>
          <a:xfrm>
            <a:off x="6309360" y="1920240"/>
            <a:ext cx="2194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Tier 1: High competition, established infrastructure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Tier 2: Lower cardiac presence, growing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f0fbaaf55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Secondary Insight : Service Line Selection</a:t>
            </a:r>
            <a:endParaRPr/>
          </a:p>
        </p:txBody>
      </p:sp>
      <p:sp>
        <p:nvSpPr>
          <p:cNvPr id="123" name="Google Shape;123;g3bf0fbaaf55_0_46"/>
          <p:cNvSpPr/>
          <p:nvPr/>
        </p:nvSpPr>
        <p:spPr>
          <a:xfrm>
            <a:off x="567175" y="114187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Cardiology?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bf0fbaaf55_0_46"/>
          <p:cNvSpPr/>
          <p:nvPr/>
        </p:nvSpPr>
        <p:spPr>
          <a:xfrm>
            <a:off x="457200" y="1845725"/>
            <a:ext cx="5029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CVD accounts for ~27% of total deaths in India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Rising lifestyle risk factors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Procedure</a:t>
            </a:r>
            <a:r>
              <a:rPr lang="en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driven specialty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Strong revenue per patient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bf0fbaaf55_0_46"/>
          <p:cNvSpPr/>
          <p:nvPr/>
        </p:nvSpPr>
        <p:spPr>
          <a:xfrm>
            <a:off x="5760720" y="1645920"/>
            <a:ext cx="2926200" cy="23775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f0fbaaf55_0_46"/>
          <p:cNvSpPr/>
          <p:nvPr/>
        </p:nvSpPr>
        <p:spPr>
          <a:xfrm>
            <a:off x="5985900" y="2468975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Cardiology offers stable demand and strong profitability.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bf0fbaaf55_0_46"/>
          <p:cNvSpPr/>
          <p:nvPr/>
        </p:nvSpPr>
        <p:spPr>
          <a:xfrm>
            <a:off x="5985900" y="214094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457200" y="4572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Georgia"/>
              <a:buNone/>
            </a:pPr>
            <a:r>
              <a:rPr i="0" lang="en" sz="25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Geographic Analysis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" y="1280160"/>
            <a:ext cx="3931800" cy="201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7200" y="1280160"/>
            <a:ext cx="73200" cy="2011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20025" y="1463040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Tier 1 Cities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77250" y="1965950"/>
            <a:ext cx="33834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competition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Advanced cardiac infra already present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growth opportunity  for mid-sized players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54880" y="1280160"/>
            <a:ext cx="3931800" cy="201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754880" y="1280160"/>
            <a:ext cx="73200" cy="2011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193955" y="1463040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Tier 2 Cities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074920" y="1965960"/>
            <a:ext cx="3383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Growing income &amp; insurance coverage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Lower bed density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advanced cardiac facilities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Lower operating cost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103120" y="3566160"/>
            <a:ext cx="4937700" cy="8229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286000" y="3566160"/>
            <a:ext cx="4572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Conclusion: Tier 2 cities offer stronger growth opportunity.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457200" y="4572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Strategic Direction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371600" y="1371600"/>
            <a:ext cx="6400800" cy="12801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554480" y="1508760"/>
            <a:ext cx="6035100" cy="3201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554480" y="1965960"/>
            <a:ext cx="6035100" cy="5487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Cardiology with Tier-2 focus, supported by strong Tier-1 capability.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310913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However: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3383325"/>
            <a:ext cx="82296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293B"/>
                </a:solidFill>
              </a:rPr>
              <a:t>Final prioritization and capital allocation should follow structured stakeholder validation to confirm:</a:t>
            </a:r>
            <a:endParaRPr sz="1300">
              <a:solidFill>
                <a:srgbClr val="1E293B"/>
              </a:solidFill>
            </a:endParaRPr>
          </a:p>
          <a:p>
            <a:pPr indent="-311150" lvl="0" marL="45720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Revenue concentration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Market demand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Operational and </a:t>
            </a:r>
            <a:r>
              <a:rPr lang="en" sz="1300">
                <a:solidFill>
                  <a:srgbClr val="1E293B"/>
                </a:solidFill>
              </a:rPr>
              <a:t>infrastructure</a:t>
            </a:r>
            <a:r>
              <a:rPr b="0" i="0" lang="en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readiness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Investment feasibility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457200" y="4572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Georgia"/>
              <a:buNone/>
            </a:pPr>
            <a:r>
              <a:rPr b="1" i="0" lang="en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Option 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1280160"/>
            <a:ext cx="39318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1280160"/>
            <a:ext cx="3931800" cy="457200"/>
          </a:xfrm>
          <a:prstGeom prst="rect">
            <a:avLst/>
          </a:prstGeom>
          <a:solidFill>
            <a:srgbClr val="014F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57200" y="1280160"/>
            <a:ext cx="3931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" y="1874520"/>
            <a:ext cx="356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Upgrade existing facilities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Advanced interventional cardiology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Major cardiac surgeries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754880" y="1280160"/>
            <a:ext cx="39318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754880" y="1280160"/>
            <a:ext cx="3931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754880" y="128016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937760" y="1874520"/>
            <a:ext cx="356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Partnership with minimal investment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Diagnostics + selective procedures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 complex cases to Tier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" y="3017520"/>
            <a:ext cx="8229600" cy="118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69165" y="33272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743200" y="3200400"/>
            <a:ext cx="5669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Lower capital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Faster Tier-2 entry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Leverages existing infrastructure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457200" y="4572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" sz="30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Option 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1188720"/>
            <a:ext cx="39318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" y="1188720"/>
            <a:ext cx="39318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1188720"/>
            <a:ext cx="3931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1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40080" y="1783080"/>
            <a:ext cx="3566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Interventional cardiologists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High-tech instruments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Complex surgeries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754880" y="1188720"/>
            <a:ext cx="39318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754880" y="1188720"/>
            <a:ext cx="393180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754880" y="1188720"/>
            <a:ext cx="39318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937760" y="1783080"/>
            <a:ext cx="3566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Visiting cardiologist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Diagnostics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Basic/high-volume procedures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Complex cases referred to Tier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3200400"/>
            <a:ext cx="8229600" cy="1155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94515" y="342900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743200" y="3337560"/>
            <a:ext cx="5669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Clear capability separation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Protects clinical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Increases patient referrals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Optimizes specialist utilization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457200" y="4572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Why Two Options?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14400" y="1280160"/>
            <a:ext cx="7315200" cy="1097400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097280" y="1280160"/>
            <a:ext cx="6949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option addresses different organizational priorities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914400" y="2628998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Risk Appetite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926080" y="26517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Option 1 minimizes capital exposure through partnerships, while Option 2 invests more in developing expertise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973825" y="3234732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Strategic Focus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926080" y="32461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Option 1 prioritizes financial efficiency and speed, while Option 2 emphasizes clinical excellence and referral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973825" y="3840455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Growth Vision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926080" y="38404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Both options are viable paths - the choice depends on leadership priorities around expansion pace, investment priorities and long term vision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/>
        </p:nvSpPr>
        <p:spPr>
          <a:xfrm>
            <a:off x="1839525" y="1775800"/>
            <a:ext cx="5016600" cy="1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